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[Aynoã] Boa noite. Somos o Grupo 2, da turma 3 do AWS re/Start, na Generation Brasil. Hoje apresentamos a modernização da arquitetura da VidaMais Telemedicina na AWS, o nosso Case 6. Antes de entrar no problema, vou apresentar o time.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[Aynoã] Hoje, o prontuário de cada paciente depende do servidor da própria clínica. Nossa proposta é um prontuário único, acessível por todas as unidades e protegido contra falhas. Como meta de recuperação em desastre, trabalhamos com perda de dados inferior a um minuto e retorno em 30 a 60 minutos. Passo a palavra à Ayra, que apresenta o cenário atual da rede.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[Ayra] A VidaMais é uma rede de clínicas com consulta por videochamada e prontuário eletrônico. Hoje, cada clínica tem seu próprio servidor físico e um sistema local, sem integração com as outras unidades. Quando um servidor cai, a equipe perde o histórico dos pacientes daquela unidade. O backup é em fita magnética, manual, uma vez por semana. A continuidade do atendimento depende de uma única máquina por clínica. Esse cenário traz desafios claros.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[Felipe] O desafio não é só tecnológico. Dado de saúde é sensível pela LGPD, então exige controle de acesso rigoroso e criptografia. O prontuário precisa estar disponível a qualquer momento, inclusive em urgência. A videochamada depende de boa conexão e resposta rápida. E a lei exige manter o prontuário por muitos anos. Segurança, disponibilidade e retenção valem desde o primeiro dia. Vejamos como a AWS responde a isso.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[Alexandre] Escolhemos a região de São Paulo para manter os dados sensíveis em território nacional. A entrada é protegida; o login usa múltiplos fatores, e o acesso depende do vínculo de atendimento. Os serviços rodam em várias zonas, então continuam operando mesmo se uma zona cair. O prontuário fica no Aurora PostgreSQL, os documentos no S3, e a criptografia é gerida pelo KMS. Agora, o diagrama completo, em três zonas.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[Sthefany] Este é o desenho completo da arquitetura, na região de São Paulo. Para ficar claro, vou percorrer em três zonas: entrada e serviços, dados e serviços gerenciados, e segurança e recuperação. Cada uma aparece em destaque nos próximos slides.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[Sthefany] Zona 1, entrada e serviços. Paciente e médico entram pela borda, com CloudFront, WAF e Shield, que barram ataques. Depois passam pelo API Gateway e pelo ALB. O Cognito valida a identidade, com múltiplos fatores, antes de qualquer dado. Só então chegam aos serviços da aplicação, em containers numa rede privada, que escalam sozinhos.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[Sthefany] Zona 2, dados e serviços gerenciados. O prontuário fica no Aurora PostgreSQL, com réplica em outra zona, cache no ElastiCache e busca no histórico pelo OpenSearch. Os documentos ficam no S3. O Chime SDK cuida da videochamada, fora do caminho do prontuário. O EventBridge Scheduler, com SNS, SES e WhatsApp, envia lembretes 24 horas e 1 hora antes da consulta.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[Sthefany] Zona 3, segurança e recuperação. KMS, CloudTrail, Config, GuardDuty, Security Hub e Macie protegem, auditam e monitoram o ambiente. Em outra região, mantemos réplica do prontuário no Aurora Global Database, cópias imutáveis dos documentos e backup isolado, com metas de perda de dados inferior a um minuto e retorno em 30 a 60 minutos.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Entregamos a primeira versão do sistema, só com o essencial, com cinco funções do começo ao fim, que são:  1. agendamento, 2. videochamada, 3. prontuário unificado, 4. receita e 5. atestado assinados com certificado ICP-Brasil, que dá ao documento a mesma validade legal do papel. Com isso o histórico ele passa a ser acessível em qualquer unidade, e o backup em fita dá lugar aos backups automáticos com retenção imutável, sem o esforço manual da equipe de TI.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-228600" y="1523880"/>
            <a:ext cx="7314840" cy="41144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quanto custa? Usando o AWS Calculator, na região de São Paulo, para um cenário de 3 clínicas com margem para crescimento. O núcleo do MVP que é Produto Mínimo Viável fica em cerca de R$ 2.417 reais por mês, ou R$ 29 mil reais em 12 meses, com o dólar a 5,15. O banco de dados é cerca de 90% desse valor. Esse número ainda não inclui o 1. vídeo (SDK Chime), a 2. busca (</a:t>
            </a:r>
            <a:r>
              <a:rPr b="1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Amazon OpenSearch) </a:t>
            </a:r>
            <a:r>
              <a:rPr b="0" lang="en-US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4. DR (recuperação de desastre) e a segurança avançada, que entram na próxima etapa da estimativa. Como a AWS cobra pelo uso, o custo acompanha o crescimento da rede. Maria, qual a decisão?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[Maria] Resumindo: hoje a rede arrisca perder o acesso ao histórico do paciente e depende de um backup semanal em fita. A proposta é um prontuário central, resiliente a falhas, com recuperação em outra região e acesso controlado por vínculo de atendimento. O ganho para a diretoria é continuidade: menos dependência de uma única máquina e mais controle sobre quem acessa cada prontuário. Por isso, pedimos a aprovação do escopo do MVP, as cinco funções que mostramos, para seguirmos à implantação.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548640" y="1188720"/>
            <a:ext cx="7680600" cy="2239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548640" y="3566160"/>
            <a:ext cx="768060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8575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DARK">
  <p:cSld name="CONTENT_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548640" y="638244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VidaMais Telemedicina  |  Grupo 2  |  TCC AWS re/Start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548640" y="6382440"/>
            <a:ext cx="7314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VidaMais Telemedicina  |  Grupo 2  |  TCC AWS re/Start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accent6"/>
              </a:buClr>
              <a:buSzPts val="1100"/>
              <a:buFont typeface="Calibri"/>
              <a:buNone/>
              <a:defRPr b="0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 type="dgm">
  <p:cSld name="DIAGRAM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_DARK">
  <p:cSld name="CLOSING_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48640" y="1097280"/>
            <a:ext cx="768060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b="0" i="0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548640" y="2788920"/>
            <a:ext cx="768060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9146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337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Noto Sans Symbols"/>
              <a:buChar char="−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146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337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Noto Sans Symbols"/>
              <a:buChar char="−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1465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1465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1465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FFFFFF"/>
              </a:buClr>
              <a:buSzPts val="99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0.png"/><Relationship Id="rId13" Type="http://schemas.openxmlformats.org/officeDocument/2006/relationships/image" Target="../media/image26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Relationship Id="rId7" Type="http://schemas.openxmlformats.org/officeDocument/2006/relationships/image" Target="../media/image34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48640" y="2880360"/>
            <a:ext cx="786348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mbria"/>
              <a:buNone/>
            </a:pPr>
            <a:r>
              <a:rPr b="1" lang="en-US" sz="52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VidaMais Telemedicina</a:t>
            </a:r>
            <a:endParaRPr b="0" sz="5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548640" y="4297680"/>
            <a:ext cx="78634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Modernização da arquitetura na AWS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8"/>
          <p:cNvSpPr/>
          <p:nvPr/>
        </p:nvSpPr>
        <p:spPr>
          <a:xfrm>
            <a:off x="548640" y="640080"/>
            <a:ext cx="4224240" cy="91404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 AWS" id="38" name="Google Shape;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731520"/>
            <a:ext cx="731160" cy="731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/>
          <p:nvPr/>
        </p:nvSpPr>
        <p:spPr>
          <a:xfrm>
            <a:off x="1828800" y="868680"/>
            <a:ext cx="18000" cy="4568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2121480" y="640080"/>
            <a:ext cx="237708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2304A"/>
                </a:solidFill>
                <a:latin typeface="Calibri"/>
                <a:ea typeface="Calibri"/>
                <a:cs typeface="Calibri"/>
                <a:sym typeface="Calibri"/>
              </a:rPr>
              <a:t>Generation Brasil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/>
          <p:nvPr/>
        </p:nvSpPr>
        <p:spPr>
          <a:xfrm>
            <a:off x="548640" y="2514600"/>
            <a:ext cx="8229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5C6B2"/>
                </a:solidFill>
                <a:latin typeface="Calibri"/>
                <a:ea typeface="Calibri"/>
                <a:cs typeface="Calibri"/>
                <a:sym typeface="Calibri"/>
              </a:rPr>
              <a:t>TURMA 3   |   AWS re/Start   |   GENERATION BRASIL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/>
          <p:nvPr/>
        </p:nvSpPr>
        <p:spPr>
          <a:xfrm>
            <a:off x="548640" y="5166360"/>
            <a:ext cx="822600" cy="54360"/>
          </a:xfrm>
          <a:prstGeom prst="rect">
            <a:avLst/>
          </a:prstGeom>
          <a:solidFill>
            <a:srgbClr val="35C6B2"/>
          </a:solidFill>
          <a:ln>
            <a:noFill/>
          </a:ln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/>
          <p:nvPr/>
        </p:nvSpPr>
        <p:spPr>
          <a:xfrm>
            <a:off x="548640" y="5394960"/>
            <a:ext cx="8229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GRUPO 2   |   CASE 6   |   Trabalho de conclusão do curso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548640" y="640080"/>
            <a:ext cx="7314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35C6B2"/>
                </a:solidFill>
                <a:latin typeface="Calibri"/>
                <a:ea typeface="Calibri"/>
                <a:cs typeface="Calibri"/>
                <a:sym typeface="Calibri"/>
              </a:rPr>
              <a:t>GRUPO 2   |   CASE 6   |   TCC AWS re/Start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548640" y="1188720"/>
            <a:ext cx="7680600" cy="22399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lang="en-US" sz="40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VidaMais Telemedicina: um prontuário, todas as unidades, sempre disponível</a:t>
            </a:r>
            <a:endParaRPr b="0" sz="4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548640" y="3566160"/>
            <a:ext cx="768060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Modernização da arquitetura na AWS, região de São Paulo (sa‑east‑1)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548640" y="4434840"/>
            <a:ext cx="3520080" cy="1874160"/>
          </a:xfrm>
          <a:prstGeom prst="roundRect">
            <a:avLst>
              <a:gd fmla="val 6829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777240" y="4636080"/>
            <a:ext cx="502560" cy="502560"/>
          </a:xfrm>
          <a:prstGeom prst="ellipse">
            <a:avLst/>
          </a:prstGeom>
          <a:solidFill>
            <a:srgbClr val="C05B52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ExclamationTriangle_w.png" id="54" name="Google Shape;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880" y="4761720"/>
            <a:ext cx="251280" cy="2512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/>
          <p:nvPr/>
        </p:nvSpPr>
        <p:spPr>
          <a:xfrm>
            <a:off x="1417320" y="4636080"/>
            <a:ext cx="16912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4B6AE"/>
                </a:solidFill>
                <a:latin typeface="Calibri"/>
                <a:ea typeface="Calibri"/>
                <a:cs typeface="Calibri"/>
                <a:sym typeface="Calibri"/>
              </a:rPr>
              <a:t>RISCO HOJE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3200400" y="4636080"/>
            <a:ext cx="6397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P-2, P-3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777240" y="5257800"/>
            <a:ext cx="3062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servidor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777240" y="5806440"/>
            <a:ext cx="30628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por clínica: se cai, o histórico some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4334400" y="4434840"/>
            <a:ext cx="3520080" cy="1874160"/>
          </a:xfrm>
          <a:prstGeom prst="roundRect">
            <a:avLst>
              <a:gd fmla="val 6829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9"/>
          <p:cNvSpPr/>
          <p:nvPr/>
        </p:nvSpPr>
        <p:spPr>
          <a:xfrm>
            <a:off x="4563000" y="4636080"/>
            <a:ext cx="502560" cy="502560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Cloud_w.png" id="61" name="Google Shape;6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8640" y="4761720"/>
            <a:ext cx="251280" cy="2512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/>
          <p:nvPr/>
        </p:nvSpPr>
        <p:spPr>
          <a:xfrm>
            <a:off x="5203080" y="4636080"/>
            <a:ext cx="16912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9CC9F0"/>
                </a:solidFill>
                <a:latin typeface="Calibri"/>
                <a:ea typeface="Calibri"/>
                <a:cs typeface="Calibri"/>
                <a:sym typeface="Calibri"/>
              </a:rPr>
              <a:t>PROPOSTA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6986160" y="4636080"/>
            <a:ext cx="6397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RF-4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4563000" y="5257800"/>
            <a:ext cx="3062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prontuário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4563000" y="5806440"/>
            <a:ext cx="30628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único, acessível por todas as unidades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8119800" y="4434840"/>
            <a:ext cx="3520080" cy="1874160"/>
          </a:xfrm>
          <a:prstGeom prst="roundRect">
            <a:avLst>
              <a:gd fmla="val 6829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8348400" y="4636080"/>
            <a:ext cx="502560" cy="502560"/>
          </a:xfrm>
          <a:prstGeom prst="ellipse">
            <a:avLst/>
          </a:prstGeom>
          <a:solidFill>
            <a:srgbClr val="35C6B2"/>
          </a:solidFill>
          <a:ln cap="flat" cmpd="sng" w="12700">
            <a:solidFill>
              <a:srgbClr val="35C6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Heartbeat_navy.png" id="68" name="Google Shape;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4040" y="4761720"/>
            <a:ext cx="251280" cy="2512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"/>
          <p:cNvSpPr/>
          <p:nvPr/>
        </p:nvSpPr>
        <p:spPr>
          <a:xfrm>
            <a:off x="8988480" y="4636080"/>
            <a:ext cx="169128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35C6B2"/>
                </a:solidFill>
                <a:latin typeface="Calibri"/>
                <a:ea typeface="Calibri"/>
                <a:cs typeface="Calibri"/>
                <a:sym typeface="Calibri"/>
              </a:rPr>
              <a:t>META DE RETORNO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10771560" y="4636080"/>
            <a:ext cx="6397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RNF-7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9"/>
          <p:cNvSpPr/>
          <p:nvPr/>
        </p:nvSpPr>
        <p:spPr>
          <a:xfrm>
            <a:off x="8348400" y="5257800"/>
            <a:ext cx="3062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 a 60 min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8348400" y="5806440"/>
            <a:ext cx="30628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DCE6F0"/>
                </a:solidFill>
                <a:latin typeface="Calibri"/>
                <a:ea typeface="Calibri"/>
                <a:cs typeface="Calibri"/>
                <a:sym typeface="Calibri"/>
              </a:rPr>
              <a:t>após desastre; perda de dados &lt; 1 min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/>
        </p:nvSpPr>
        <p:spPr>
          <a:xfrm>
            <a:off x="8165520" y="274320"/>
            <a:ext cx="1096920" cy="292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816552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935424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1054296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Hoje, uma falha local interrompe o atendimento</a:t>
            </a:r>
            <a:endParaRPr b="0" sz="3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48640" y="1783080"/>
            <a:ext cx="6354720" cy="1325520"/>
          </a:xfrm>
          <a:prstGeom prst="roundRect">
            <a:avLst>
              <a:gd fmla="val 827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822960" y="2075760"/>
            <a:ext cx="731160" cy="73116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Unlink_w.png" id="85" name="Google Shape;8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0" y="2273040"/>
            <a:ext cx="336240" cy="33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0"/>
          <p:cNvSpPr/>
          <p:nvPr/>
        </p:nvSpPr>
        <p:spPr>
          <a:xfrm>
            <a:off x="1828800" y="1947600"/>
            <a:ext cx="32914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DADOS ISOLADOS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5669280" y="1947600"/>
            <a:ext cx="1005480" cy="273960"/>
          </a:xfrm>
          <a:prstGeom prst="roundRect">
            <a:avLst>
              <a:gd fmla="val 50000" name="adj"/>
            </a:avLst>
          </a:prstGeom>
          <a:solidFill>
            <a:srgbClr val="FBE3E1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5669280" y="1947600"/>
            <a:ext cx="10054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P-1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1828800" y="2286000"/>
            <a:ext cx="48002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Prontuário fica em sistema local de cada clínica, sem integração entre unidades.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548640" y="3246120"/>
            <a:ext cx="6354720" cy="1325520"/>
          </a:xfrm>
          <a:prstGeom prst="roundRect">
            <a:avLst>
              <a:gd fmla="val 827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822960" y="3538800"/>
            <a:ext cx="731160" cy="73116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Server_w.png" id="92" name="Google Shape;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600" y="3736080"/>
            <a:ext cx="336240" cy="3362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/>
          <p:nvPr/>
        </p:nvSpPr>
        <p:spPr>
          <a:xfrm>
            <a:off x="1828800" y="3410640"/>
            <a:ext cx="32914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QUEDAS LOCAIS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5669280" y="3410640"/>
            <a:ext cx="1005480" cy="273960"/>
          </a:xfrm>
          <a:prstGeom prst="roundRect">
            <a:avLst>
              <a:gd fmla="val 50000" name="adj"/>
            </a:avLst>
          </a:prstGeom>
          <a:solidFill>
            <a:srgbClr val="FBE3E1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5669280" y="3410640"/>
            <a:ext cx="10054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P-2 · P-3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828800" y="3749040"/>
            <a:ext cx="48002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 cai: a equipe perde o histórico dos pacientes daquela unidade.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548640" y="4709160"/>
            <a:ext cx="6354720" cy="1325520"/>
          </a:xfrm>
          <a:prstGeom prst="roundRect">
            <a:avLst>
              <a:gd fmla="val 827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822960" y="5001840"/>
            <a:ext cx="731160" cy="73116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Tape_w.png" id="99" name="Google Shape;9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0600" y="5199120"/>
            <a:ext cx="336240" cy="33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1828800" y="4873680"/>
            <a:ext cx="32914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RISCO DE PERDA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5669280" y="4873680"/>
            <a:ext cx="1005480" cy="273960"/>
          </a:xfrm>
          <a:prstGeom prst="roundRect">
            <a:avLst>
              <a:gd fmla="val 50000" name="adj"/>
            </a:avLst>
          </a:prstGeom>
          <a:solidFill>
            <a:srgbClr val="FBE3E1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5669280" y="4873680"/>
            <a:ext cx="10054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P-4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1828800" y="5212080"/>
            <a:ext cx="480024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 em fita magnética, manual, só uma vez por semana.</a:t>
            </a:r>
            <a:endParaRPr b="0" sz="1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7178040" y="1783080"/>
            <a:ext cx="4461840" cy="4114440"/>
          </a:xfrm>
          <a:prstGeom prst="roundRect">
            <a:avLst>
              <a:gd fmla="val 2667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7452360" y="1965960"/>
            <a:ext cx="39132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unidade é uma ilha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0"/>
          <p:cNvCxnSpPr/>
          <p:nvPr/>
        </p:nvCxnSpPr>
        <p:spPr>
          <a:xfrm flipH="1">
            <a:off x="8001000" y="3246120"/>
            <a:ext cx="1407960" cy="1600200"/>
          </a:xfrm>
          <a:prstGeom prst="straightConnector1">
            <a:avLst/>
          </a:prstGeom>
          <a:noFill/>
          <a:ln cap="flat" cmpd="sng" w="25400">
            <a:solidFill>
              <a:srgbClr val="C05B5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7" name="Google Shape;107;p10"/>
          <p:cNvCxnSpPr/>
          <p:nvPr/>
        </p:nvCxnSpPr>
        <p:spPr>
          <a:xfrm>
            <a:off x="9408960" y="3246120"/>
            <a:ext cx="1408320" cy="1600200"/>
          </a:xfrm>
          <a:prstGeom prst="straightConnector1">
            <a:avLst/>
          </a:prstGeom>
          <a:noFill/>
          <a:ln cap="flat" cmpd="sng" w="25400">
            <a:solidFill>
              <a:srgbClr val="C05B5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08" name="Google Shape;108;p10"/>
          <p:cNvCxnSpPr/>
          <p:nvPr/>
        </p:nvCxnSpPr>
        <p:spPr>
          <a:xfrm>
            <a:off x="8001000" y="4846320"/>
            <a:ext cx="2816280" cy="360"/>
          </a:xfrm>
          <a:prstGeom prst="straightConnector1">
            <a:avLst/>
          </a:prstGeom>
          <a:noFill/>
          <a:ln cap="flat" cmpd="sng" w="25400">
            <a:solidFill>
              <a:srgbClr val="C05B5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9" name="Google Shape;109;p10"/>
          <p:cNvSpPr/>
          <p:nvPr/>
        </p:nvSpPr>
        <p:spPr>
          <a:xfrm>
            <a:off x="8540640" y="3881520"/>
            <a:ext cx="328680" cy="32868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Times_red.png" id="110" name="Google Shape;11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22720" y="3963960"/>
            <a:ext cx="164160" cy="1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/>
          <p:nvPr/>
        </p:nvSpPr>
        <p:spPr>
          <a:xfrm>
            <a:off x="9948600" y="3881520"/>
            <a:ext cx="328680" cy="32868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Times_red.png" id="112" name="Google Shape;11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31040" y="3963960"/>
            <a:ext cx="164160" cy="1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"/>
          <p:cNvSpPr/>
          <p:nvPr/>
        </p:nvSpPr>
        <p:spPr>
          <a:xfrm>
            <a:off x="9244440" y="4681800"/>
            <a:ext cx="328680" cy="32868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Times_red.png" id="114" name="Google Shape;11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0" y="4763880"/>
            <a:ext cx="164160" cy="1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0"/>
          <p:cNvSpPr/>
          <p:nvPr/>
        </p:nvSpPr>
        <p:spPr>
          <a:xfrm>
            <a:off x="8860680" y="2697480"/>
            <a:ext cx="1096920" cy="109692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C6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ClinicMedical_w.png" id="116" name="Google Shape;11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5000" y="2971800"/>
            <a:ext cx="548280" cy="548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/>
          <p:nvPr/>
        </p:nvSpPr>
        <p:spPr>
          <a:xfrm>
            <a:off x="10095120" y="3108960"/>
            <a:ext cx="13712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 1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7452360" y="4297680"/>
            <a:ext cx="1096920" cy="109692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C6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ClinicMedical_w.png" id="119" name="Google Shape;11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26680" y="4572000"/>
            <a:ext cx="548280" cy="548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7178040" y="5468040"/>
            <a:ext cx="16455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 2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0268640" y="4297680"/>
            <a:ext cx="1096920" cy="109692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C6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ClinicMedical_w.png" id="122" name="Google Shape;12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42960" y="4572000"/>
            <a:ext cx="548280" cy="548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0"/>
          <p:cNvSpPr/>
          <p:nvPr/>
        </p:nvSpPr>
        <p:spPr>
          <a:xfrm>
            <a:off x="9994320" y="5468040"/>
            <a:ext cx="16455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 3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fld id="{00000000-1234-1234-1234-123412341234}" type="slidenum">
              <a:rPr b="0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/>
          <p:nvPr/>
        </p:nvSpPr>
        <p:spPr>
          <a:xfrm>
            <a:off x="8165520" y="274320"/>
            <a:ext cx="1096920" cy="292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816552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935424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1054296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1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Dado de saúde exige proteção e disponibilidade contínua</a:t>
            </a:r>
            <a:endParaRPr b="0" sz="3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548640" y="1783080"/>
            <a:ext cx="3513960" cy="352008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822960" y="2057400"/>
            <a:ext cx="868320" cy="86832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Lock_w.png"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80" y="2283120"/>
            <a:ext cx="416520" cy="41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/>
          <p:nvPr/>
        </p:nvSpPr>
        <p:spPr>
          <a:xfrm>
            <a:off x="822960" y="3154680"/>
            <a:ext cx="29653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Proteção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822960" y="3703320"/>
            <a:ext cx="1462680" cy="292320"/>
          </a:xfrm>
          <a:prstGeom prst="roundRect">
            <a:avLst>
              <a:gd fmla="val 50000" name="adj"/>
            </a:avLst>
          </a:prstGeom>
          <a:solidFill>
            <a:srgbClr val="FBE3E1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822960" y="3703320"/>
            <a:ext cx="14626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RNF-1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22960" y="4160520"/>
            <a:ext cx="29653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 de saúde é sensível: acesso rigoroso e criptografia (LGPD).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4337280" y="1783080"/>
            <a:ext cx="3513960" cy="352008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611600" y="2057400"/>
            <a:ext cx="868320" cy="8683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Heartbeat_w.png" id="144" name="Google Shape;14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7320" y="2283120"/>
            <a:ext cx="416520" cy="41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/>
          <p:nvPr/>
        </p:nvSpPr>
        <p:spPr>
          <a:xfrm>
            <a:off x="4611600" y="3154680"/>
            <a:ext cx="29653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Disponibilidade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611600" y="3703320"/>
            <a:ext cx="1462680" cy="29232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4611600" y="3703320"/>
            <a:ext cx="14626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RNF-2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611600" y="4160520"/>
            <a:ext cx="29653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Prontuário precisa estar disponível a qualquer hora, inclusive em urgência.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8125920" y="1783080"/>
            <a:ext cx="3513960" cy="352008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8400240" y="2057400"/>
            <a:ext cx="868320" cy="8683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Archive_w.png" id="151" name="Google Shape;15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6320" y="2283120"/>
            <a:ext cx="416520" cy="416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8400240" y="3154680"/>
            <a:ext cx="29653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Conexão e retenção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8400240" y="3703320"/>
            <a:ext cx="1462680" cy="292320"/>
          </a:xfrm>
          <a:prstGeom prst="roundRect">
            <a:avLst>
              <a:gd fmla="val 50000" name="adj"/>
            </a:avLst>
          </a:prstGeom>
          <a:solidFill>
            <a:srgbClr val="D5F0DD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8400240" y="3703320"/>
            <a:ext cx="146268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RNF-3 e RNF-4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8400240" y="4160520"/>
            <a:ext cx="29653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Videochamada exige conexão boa; prontuário precisa ser mantido por muitos anos.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548640" y="5532120"/>
            <a:ext cx="11091240" cy="50256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12700">
            <a:solidFill>
              <a:srgbClr val="12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868680" y="5532120"/>
            <a:ext cx="9600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Cada decisão de arquitetura a seguir responde a um destes requisitos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ArrowRight_w.png" id="158" name="Google Shape;15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82600" y="5664600"/>
            <a:ext cx="237240" cy="23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fld id="{00000000-1234-1234-1234-123412341234}" type="slidenum">
              <a:rPr b="0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/>
          <p:nvPr/>
        </p:nvSpPr>
        <p:spPr>
          <a:xfrm>
            <a:off x="816552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9354240" y="274320"/>
            <a:ext cx="1096920" cy="292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935424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054296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 solução: prontuário central, protegido e continuamente disponível</a:t>
            </a:r>
            <a:endParaRPr b="0" sz="3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548640" y="1737360"/>
            <a:ext cx="11091240" cy="1325520"/>
          </a:xfrm>
          <a:prstGeom prst="roundRect">
            <a:avLst>
              <a:gd fmla="val 9655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822960" y="1989000"/>
            <a:ext cx="822600" cy="8226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Server_w.png" id="172" name="Google Shape;1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800" y="2202840"/>
            <a:ext cx="394560" cy="3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2"/>
          <p:cNvSpPr/>
          <p:nvPr/>
        </p:nvSpPr>
        <p:spPr>
          <a:xfrm>
            <a:off x="1920240" y="1828800"/>
            <a:ext cx="585180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Continua operando mesmo se uma zona cair: Aurora PostgreSQL e serviços Multi-AZ.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RNF-2  ·  P-3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8092440" y="181512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Aurora PostgreSQL" id="175" name="Google Shape;1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5520" y="186084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2"/>
          <p:cNvSpPr/>
          <p:nvPr/>
        </p:nvSpPr>
        <p:spPr>
          <a:xfrm>
            <a:off x="8503920" y="181512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Aurora PostgreSQL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8092440" y="222660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ECS Fargate / EKS" id="178" name="Google Shape;1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5520" y="227232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/>
          <p:nvPr/>
        </p:nvSpPr>
        <p:spPr>
          <a:xfrm>
            <a:off x="8503920" y="222660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ECS Fargate / EKS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8092440" y="263808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S3" id="181" name="Google Shape;18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5520" y="268380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/>
          <p:nvPr/>
        </p:nvSpPr>
        <p:spPr>
          <a:xfrm>
            <a:off x="8503920" y="263808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48640" y="3200400"/>
            <a:ext cx="11091240" cy="1325520"/>
          </a:xfrm>
          <a:prstGeom prst="roundRect">
            <a:avLst>
              <a:gd fmla="val 9655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822960" y="3452040"/>
            <a:ext cx="822600" cy="8226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ShieldAlt_w.png" id="185" name="Google Shape;18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6800" y="3665880"/>
            <a:ext cx="394560" cy="3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/>
          <p:nvPr/>
        </p:nvSpPr>
        <p:spPr>
          <a:xfrm>
            <a:off x="1920240" y="3291840"/>
            <a:ext cx="585180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Acesso por vínculo de atendimento, login com múltiplos fatores (MFA) e criptografia.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RNF-1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8092440" y="348372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FBE3E1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Cognito / IdP" id="188" name="Google Shape;188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65520" y="352944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/>
          <p:nvPr/>
        </p:nvSpPr>
        <p:spPr>
          <a:xfrm>
            <a:off x="8503920" y="348372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Cognito / IdP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8092440" y="389520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FBE3E1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KMS" id="191" name="Google Shape;191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65520" y="394092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/>
          <p:nvPr/>
        </p:nvSpPr>
        <p:spPr>
          <a:xfrm>
            <a:off x="8503920" y="389520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KMS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548640" y="4663440"/>
            <a:ext cx="11091240" cy="1325520"/>
          </a:xfrm>
          <a:prstGeom prst="roundRect">
            <a:avLst>
              <a:gd fmla="val 9655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822960" y="4915080"/>
            <a:ext cx="822600" cy="8226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rgbClr val="B87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Video_w.png" id="195" name="Google Shape;195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6800" y="5128920"/>
            <a:ext cx="394560" cy="3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/>
          <p:nvPr/>
        </p:nvSpPr>
        <p:spPr>
          <a:xfrm>
            <a:off x="1920240" y="4754880"/>
            <a:ext cx="585180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Vídeo e lembretes rodam em serviços gerenciados, fora do prontuário.</a:t>
            </a:r>
            <a:endParaRPr b="0" sz="1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RF-1  ·  RF-5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8092440" y="474120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FCEBCF"/>
          </a:solidFill>
          <a:ln cap="flat" cmpd="sng" w="12700">
            <a:solidFill>
              <a:srgbClr val="B87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Chime SDK / WebRTC" id="198" name="Google Shape;198;p1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65520" y="478692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/>
          <p:nvPr/>
        </p:nvSpPr>
        <p:spPr>
          <a:xfrm>
            <a:off x="8503920" y="474120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Chime SDK / WebRTC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092440" y="515268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FCEBCF"/>
          </a:solidFill>
          <a:ln cap="flat" cmpd="sng" w="12700">
            <a:solidFill>
              <a:srgbClr val="B87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EventBridge Scheduler" id="201" name="Google Shape;201;p1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65520" y="519840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8503920" y="515268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EventBridge Scheduler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8092440" y="5564160"/>
            <a:ext cx="3382920" cy="347040"/>
          </a:xfrm>
          <a:prstGeom prst="roundRect">
            <a:avLst>
              <a:gd fmla="val 50000" name="adj"/>
            </a:avLst>
          </a:prstGeom>
          <a:solidFill>
            <a:srgbClr val="FCEBCF"/>
          </a:solidFill>
          <a:ln cap="flat" cmpd="sng" w="12700">
            <a:solidFill>
              <a:srgbClr val="B87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 AWS SNS / SES / WhatsApp" id="204" name="Google Shape;204;p1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65520" y="560988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/>
          <p:nvPr/>
        </p:nvSpPr>
        <p:spPr>
          <a:xfrm>
            <a:off x="8503920" y="5564160"/>
            <a:ext cx="28800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SNS / SES / WhatsApp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fld id="{00000000-1234-1234-1234-123412341234}" type="slidenum">
              <a:rPr b="0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quitetura AWS da VidaMais na região sa-east-1: borda com CloudFront, WAF e Shield; API Gateway, ALB e Cognito; serviços em ECS Fargate ou EKS na VPC; Aurora, ElastiCache, OpenSearch e S3 em duas zonas; lembretes com EventBridge, SNS e SES; vídeo com Chime SDK; segurança e governança; região secundária de recuperação de desastre." id="212" name="Google Shape;212;p13"/>
          <p:cNvPicPr preferRelativeResize="0"/>
          <p:nvPr/>
        </p:nvPicPr>
        <p:blipFill rotWithShape="1">
          <a:blip r:embed="rId3">
            <a:alphaModFix/>
          </a:blip>
          <a:srcRect b="92563" l="0" r="0" t="0"/>
          <a:stretch/>
        </p:blipFill>
        <p:spPr>
          <a:xfrm>
            <a:off x="0" y="0"/>
            <a:ext cx="12191400" cy="50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3"/>
          <p:cNvPicPr preferRelativeResize="0"/>
          <p:nvPr/>
        </p:nvPicPr>
        <p:blipFill rotWithShape="1">
          <a:blip r:embed="rId4">
            <a:alphaModFix/>
          </a:blip>
          <a:srcRect b="1835" l="17252" r="1039" t="2107"/>
          <a:stretch/>
        </p:blipFill>
        <p:spPr>
          <a:xfrm>
            <a:off x="1026720" y="510120"/>
            <a:ext cx="9891000" cy="634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548640" y="274320"/>
            <a:ext cx="11063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Zona 1 | Entrada e serviços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548640" y="822960"/>
            <a:ext cx="110638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Quem entra, como é protegido e onde a aplicação roda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557640" y="1316880"/>
            <a:ext cx="11082240" cy="3995640"/>
          </a:xfrm>
          <a:prstGeom prst="roundRect">
            <a:avLst>
              <a:gd fmla="val 1831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ona 1 do diagrama: usuários, CloudFront, WAF, Shield, API Gateway, ALB, Cognito e serviços em ECS Fargate ou EKS"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20" y="1371600"/>
            <a:ext cx="10972440" cy="388584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4"/>
          <p:cNvSpPr/>
          <p:nvPr/>
        </p:nvSpPr>
        <p:spPr>
          <a:xfrm>
            <a:off x="612720" y="5486400"/>
            <a:ext cx="822600" cy="31068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612720" y="5486400"/>
            <a:ext cx="82260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RNF-1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1527120" y="5486400"/>
            <a:ext cx="2605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Identidade e MFA antes de qualquer dado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325040" y="5486400"/>
            <a:ext cx="822600" cy="31068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4325040" y="5486400"/>
            <a:ext cx="82260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RNF-2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5239440" y="5486400"/>
            <a:ext cx="26056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Serviços em várias zonas, escalam sozinhos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8037720" y="5486400"/>
            <a:ext cx="1188360" cy="31068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8037720" y="5486400"/>
            <a:ext cx="1188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RNF-1 · RNF-3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9317880" y="5486400"/>
            <a:ext cx="223992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Borda barra ataques e entrega rápido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548640" y="274320"/>
            <a:ext cx="11063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Zona 2 | Dados e serviços gerenciados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548640" y="822960"/>
            <a:ext cx="110638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Onde o prontuário vive, e o que roda fora dele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557640" y="1362600"/>
            <a:ext cx="11082240" cy="4169160"/>
          </a:xfrm>
          <a:prstGeom prst="roundRect">
            <a:avLst>
              <a:gd fmla="val 1754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ona 2 do diagrama: ElastiCache, Aurora PostgreSQL principal e réplica, OpenSearch, S3, EventBridge Scheduler, SNS, SES e Chime SDK" id="240" name="Google Shape;2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20" y="1417320"/>
            <a:ext cx="10972440" cy="405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/>
          <p:nvPr/>
        </p:nvSpPr>
        <p:spPr>
          <a:xfrm>
            <a:off x="548640" y="274320"/>
            <a:ext cx="1106388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Zona 3 | Segurança e recuperação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548640" y="822960"/>
            <a:ext cx="110638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Como protegemos, auditamos e voltamos a operar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557640" y="1362600"/>
            <a:ext cx="11082240" cy="3227400"/>
          </a:xfrm>
          <a:prstGeom prst="roundRect">
            <a:avLst>
              <a:gd fmla="val 226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Zona 3 do diagrama: região secundária com Aurora Global Database, S3 com replicação e AWS Backup; segurança e governança com KMS, CloudTrail, Config, GuardDuty, Security Hub e Macie" id="249" name="Google Shape;2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720" y="1417320"/>
            <a:ext cx="10972440" cy="3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/>
          <p:nvPr/>
        </p:nvSpPr>
        <p:spPr>
          <a:xfrm>
            <a:off x="612720" y="4846320"/>
            <a:ext cx="10972440" cy="1279800"/>
          </a:xfrm>
          <a:prstGeom prst="roundRect">
            <a:avLst>
              <a:gd fmla="val 8571" name="adj"/>
            </a:avLst>
          </a:prstGeom>
          <a:solidFill>
            <a:srgbClr val="12304A"/>
          </a:solidFill>
          <a:ln cap="flat" cmpd="sng" w="12700">
            <a:solidFill>
              <a:srgbClr val="12304A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/>
          <p:nvPr/>
        </p:nvSpPr>
        <p:spPr>
          <a:xfrm>
            <a:off x="612720" y="4846320"/>
            <a:ext cx="63720" cy="1279800"/>
          </a:xfrm>
          <a:prstGeom prst="rect">
            <a:avLst/>
          </a:prstGeom>
          <a:solidFill>
            <a:srgbClr val="35C6B2"/>
          </a:solidFill>
          <a:ln cap="flat" cmpd="sng" w="12700">
            <a:solidFill>
              <a:srgbClr val="35C6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914400" y="5029200"/>
            <a:ext cx="29257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35C6B2"/>
                </a:solidFill>
                <a:latin typeface="Calibri"/>
                <a:ea typeface="Calibri"/>
                <a:cs typeface="Calibri"/>
                <a:sym typeface="Calibri"/>
              </a:rPr>
              <a:t>METAS DE RECUPERAÇÃO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914400" y="5440680"/>
            <a:ext cx="3017160" cy="54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C9D6E3"/>
                </a:solidFill>
                <a:latin typeface="Calibri"/>
                <a:ea typeface="Calibri"/>
                <a:cs typeface="Calibri"/>
                <a:sym typeface="Calibri"/>
              </a:rPr>
              <a:t>Metas de projeto (RPO e RTO), não garantia de SLA  ·  RNF-4, RNF-7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206240" y="4983480"/>
            <a:ext cx="365724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Perda de dados &lt; 1 minuto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7863840" y="4983480"/>
            <a:ext cx="365724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Retorno em 30 a 60 minutos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/>
          <p:nvPr/>
        </p:nvSpPr>
        <p:spPr>
          <a:xfrm>
            <a:off x="816552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9354240" y="274320"/>
            <a:ext cx="1096920" cy="292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935424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1054296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Primeira versão cobre o atendimento completo, com continuidade embutida</a:t>
            </a:r>
            <a:endParaRPr b="0" sz="3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48640" y="1627560"/>
            <a:ext cx="365724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ESCOPO DO MVP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548640" y="1965960"/>
            <a:ext cx="2071800" cy="1691280"/>
          </a:xfrm>
          <a:prstGeom prst="roundRect">
            <a:avLst>
              <a:gd fmla="val 648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731520" y="2148840"/>
            <a:ext cx="594000" cy="594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Video_w.png" id="269" name="Google Shape;2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960" y="2303280"/>
            <a:ext cx="284760" cy="28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7"/>
          <p:cNvSpPr/>
          <p:nvPr/>
        </p:nvSpPr>
        <p:spPr>
          <a:xfrm>
            <a:off x="1843560" y="2295000"/>
            <a:ext cx="594000" cy="27396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843560" y="2295000"/>
            <a:ext cx="5940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RF-1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731520" y="2926080"/>
            <a:ext cx="17060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Agendar e atender por videochamada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2803680" y="1965960"/>
            <a:ext cx="2071800" cy="1691280"/>
          </a:xfrm>
          <a:prstGeom prst="roundRect">
            <a:avLst>
              <a:gd fmla="val 648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2986560" y="2148840"/>
            <a:ext cx="594000" cy="594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NotesMedical_w.png" id="275" name="Google Shape;2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1000" y="2303280"/>
            <a:ext cx="284760" cy="28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7"/>
          <p:cNvSpPr/>
          <p:nvPr/>
        </p:nvSpPr>
        <p:spPr>
          <a:xfrm>
            <a:off x="4098240" y="2295000"/>
            <a:ext cx="594000" cy="27396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098240" y="2295000"/>
            <a:ext cx="5940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RF-2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2986560" y="2926080"/>
            <a:ext cx="17060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Acessar e atualizar o prontuário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5058360" y="1965960"/>
            <a:ext cx="2071800" cy="1691280"/>
          </a:xfrm>
          <a:prstGeom prst="roundRect">
            <a:avLst>
              <a:gd fmla="val 648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5241240" y="2148840"/>
            <a:ext cx="594000" cy="594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FilePrescription_w.png" id="281" name="Google Shape;28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6040" y="2303280"/>
            <a:ext cx="284760" cy="28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7"/>
          <p:cNvSpPr/>
          <p:nvPr/>
        </p:nvSpPr>
        <p:spPr>
          <a:xfrm>
            <a:off x="6353280" y="2295000"/>
            <a:ext cx="594000" cy="27396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353280" y="2295000"/>
            <a:ext cx="5940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RF-3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5241240" y="2926080"/>
            <a:ext cx="17060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Receita e atestado digitais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7313400" y="1965960"/>
            <a:ext cx="2071800" cy="1691280"/>
          </a:xfrm>
          <a:prstGeom prst="roundRect">
            <a:avLst>
              <a:gd fmla="val 648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7496280" y="2148840"/>
            <a:ext cx="594000" cy="594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History_w.png" id="287" name="Google Shape;28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0720" y="2303280"/>
            <a:ext cx="284760" cy="28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7"/>
          <p:cNvSpPr/>
          <p:nvPr/>
        </p:nvSpPr>
        <p:spPr>
          <a:xfrm>
            <a:off x="8608320" y="2295000"/>
            <a:ext cx="594000" cy="27396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8608320" y="2295000"/>
            <a:ext cx="5940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RF-4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7496280" y="2926080"/>
            <a:ext cx="17060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Histórico disponível em toda a rede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9568440" y="1965960"/>
            <a:ext cx="2071800" cy="1691280"/>
          </a:xfrm>
          <a:prstGeom prst="roundRect">
            <a:avLst>
              <a:gd fmla="val 6486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9751320" y="2148840"/>
            <a:ext cx="594000" cy="5940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Bell_w.png" id="293" name="Google Shape;29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5760" y="2303280"/>
            <a:ext cx="284760" cy="2847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7"/>
          <p:cNvSpPr/>
          <p:nvPr/>
        </p:nvSpPr>
        <p:spPr>
          <a:xfrm>
            <a:off x="10863000" y="2295000"/>
            <a:ext cx="594000" cy="273960"/>
          </a:xfrm>
          <a:prstGeom prst="roundRect">
            <a:avLst>
              <a:gd fmla="val 50000" name="adj"/>
            </a:avLst>
          </a:prstGeom>
          <a:solidFill>
            <a:srgbClr val="D7EAF8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10863000" y="2295000"/>
            <a:ext cx="5940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RF-5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9751320" y="2926080"/>
            <a:ext cx="17060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Lembrete automático ao paciente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548640" y="3931920"/>
            <a:ext cx="5454000" cy="2148480"/>
          </a:xfrm>
          <a:prstGeom prst="roundRect">
            <a:avLst>
              <a:gd fmla="val 5957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731520" y="4114800"/>
            <a:ext cx="2269800" cy="1371240"/>
          </a:xfrm>
          <a:prstGeom prst="roundRect">
            <a:avLst>
              <a:gd fmla="val 6667" name="adj"/>
            </a:avLst>
          </a:prstGeom>
          <a:solidFill>
            <a:srgbClr val="FBE3E1"/>
          </a:solidFill>
          <a:ln cap="flat" cmpd="sng" w="12700">
            <a:solidFill>
              <a:srgbClr val="FB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896040" y="4206240"/>
            <a:ext cx="1995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896040" y="4462200"/>
            <a:ext cx="1995480" cy="95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 da clínica cai e o histórico some.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3047400" y="4572000"/>
            <a:ext cx="456840" cy="4568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ArrowRight_w.png" id="302" name="Google Shape;30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66200" y="4690800"/>
            <a:ext cx="219240" cy="2192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7"/>
          <p:cNvSpPr/>
          <p:nvPr/>
        </p:nvSpPr>
        <p:spPr>
          <a:xfrm>
            <a:off x="3550320" y="4114800"/>
            <a:ext cx="2269800" cy="1371240"/>
          </a:xfrm>
          <a:prstGeom prst="roundRect">
            <a:avLst>
              <a:gd fmla="val 6667" name="adj"/>
            </a:avLst>
          </a:prstGeom>
          <a:solidFill>
            <a:srgbClr val="D5F0DD"/>
          </a:solidFill>
          <a:ln cap="flat" cmpd="sng" w="12700">
            <a:solidFill>
              <a:srgbClr val="D5F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3714840" y="4206240"/>
            <a:ext cx="1995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3714840" y="4462200"/>
            <a:ext cx="1995480" cy="95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Histórico em qualquer unidade, mesmo se uma zona da nuvem cair.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731520" y="5623560"/>
            <a:ext cx="1096920" cy="27396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12700">
            <a:solidFill>
              <a:srgbClr val="5C6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731520" y="562356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P-1  ·  P-3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6185880" y="3931920"/>
            <a:ext cx="5454000" cy="2148480"/>
          </a:xfrm>
          <a:prstGeom prst="roundRect">
            <a:avLst>
              <a:gd fmla="val 5957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6368760" y="4114800"/>
            <a:ext cx="2269800" cy="1371240"/>
          </a:xfrm>
          <a:prstGeom prst="roundRect">
            <a:avLst>
              <a:gd fmla="val 6667" name="adj"/>
            </a:avLst>
          </a:prstGeom>
          <a:solidFill>
            <a:srgbClr val="FBE3E1"/>
          </a:solidFill>
          <a:ln cap="flat" cmpd="sng" w="12700">
            <a:solidFill>
              <a:srgbClr val="FBE3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6533280" y="4206240"/>
            <a:ext cx="1995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533280" y="4462200"/>
            <a:ext cx="1995480" cy="95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 em fita, manual, uma vez por semana.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8684640" y="4572000"/>
            <a:ext cx="456840" cy="45684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ArrowRight_w.png" id="313" name="Google Shape;31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03440" y="4690800"/>
            <a:ext cx="219240" cy="21924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/>
          <p:nvPr/>
        </p:nvSpPr>
        <p:spPr>
          <a:xfrm>
            <a:off x="9187560" y="4114800"/>
            <a:ext cx="2269800" cy="1371240"/>
          </a:xfrm>
          <a:prstGeom prst="roundRect">
            <a:avLst>
              <a:gd fmla="val 6667" name="adj"/>
            </a:avLst>
          </a:prstGeom>
          <a:solidFill>
            <a:srgbClr val="D5F0DD"/>
          </a:solidFill>
          <a:ln cap="flat" cmpd="sng" w="12700">
            <a:solidFill>
              <a:srgbClr val="D5F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9352080" y="4206240"/>
            <a:ext cx="199548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DEPOIS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9352080" y="4462200"/>
            <a:ext cx="1995480" cy="95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Backup automatizado, com cópia isolada e retenção imutável.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6368760" y="5623560"/>
            <a:ext cx="1096920" cy="27396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12700">
            <a:solidFill>
              <a:srgbClr val="5C6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6368760" y="562356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P-4  ·  RNF-4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fld id="{00000000-1234-1234-1234-123412341234}" type="slidenum">
              <a:rPr b="0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"/>
          <p:cNvSpPr/>
          <p:nvPr/>
        </p:nvSpPr>
        <p:spPr>
          <a:xfrm>
            <a:off x="816552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9354240" y="274320"/>
            <a:ext cx="1096920" cy="29232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935424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054296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8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 u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Estimativa de custo mensal na AWS</a:t>
            </a:r>
            <a:endParaRPr b="0" sz="3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548640" y="1783080"/>
            <a:ext cx="7223400" cy="352008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822960" y="1900080"/>
            <a:ext cx="5999760" cy="29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por mês, com base no AWS Pricing Calculator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822960" y="2400120"/>
            <a:ext cx="279972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Aurora PostgreSQL (banco)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3700080" y="2540160"/>
            <a:ext cx="2284920" cy="219600"/>
          </a:xfrm>
          <a:prstGeom prst="roundRect">
            <a:avLst>
              <a:gd fmla="val 30000" name="adj"/>
            </a:avLst>
          </a:prstGeom>
          <a:solidFill>
            <a:srgbClr val="2B6CA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6350040" y="2400120"/>
            <a:ext cx="124956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R$ 1.252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822960" y="2900160"/>
            <a:ext cx="279972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Fargate (10 tarefas)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3700080" y="3039840"/>
            <a:ext cx="1691640" cy="219600"/>
          </a:xfrm>
          <a:prstGeom prst="roundRect">
            <a:avLst>
              <a:gd fmla="val 30000" name="adj"/>
            </a:avLst>
          </a:prstGeom>
          <a:solidFill>
            <a:srgbClr val="2B6CA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6350040" y="2900160"/>
            <a:ext cx="124956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R$ 927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822960" y="3399840"/>
            <a:ext cx="279972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Cognito (login)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3700080" y="3539880"/>
            <a:ext cx="234720" cy="219600"/>
          </a:xfrm>
          <a:prstGeom prst="roundRect">
            <a:avLst>
              <a:gd fmla="val 30000" name="adj"/>
            </a:avLst>
          </a:prstGeom>
          <a:solidFill>
            <a:srgbClr val="2B6CA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350040" y="3399840"/>
            <a:ext cx="124956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R$ 129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822960" y="3899880"/>
            <a:ext cx="279972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S3 (documentos)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3700080" y="4039920"/>
            <a:ext cx="108720" cy="219600"/>
          </a:xfrm>
          <a:prstGeom prst="roundRect">
            <a:avLst>
              <a:gd fmla="val 30000" name="adj"/>
            </a:avLst>
          </a:prstGeom>
          <a:solidFill>
            <a:srgbClr val="2B6CA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6350040" y="3899880"/>
            <a:ext cx="124956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R$ 60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822960" y="4399920"/>
            <a:ext cx="279972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WAF (proteção)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3700080" y="4539960"/>
            <a:ext cx="90000" cy="219600"/>
          </a:xfrm>
          <a:prstGeom prst="roundRect">
            <a:avLst>
              <a:gd fmla="val 30000" name="adj"/>
            </a:avLst>
          </a:prstGeom>
          <a:solidFill>
            <a:srgbClr val="2B6CA3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6350040" y="4399920"/>
            <a:ext cx="1249560" cy="49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R$ 49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7999920" y="1783080"/>
            <a:ext cx="3639960" cy="3520080"/>
          </a:xfrm>
          <a:prstGeom prst="roundRect">
            <a:avLst>
              <a:gd fmla="val 3643" name="adj"/>
            </a:avLst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80" rotWithShape="0" algn="bl" dir="5400000" dist="38160">
              <a:srgbClr val="12304A">
                <a:alpha val="12157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8274960" y="2000160"/>
            <a:ext cx="3099600" cy="29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mensal estimado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8274960" y="2300040"/>
            <a:ext cx="3099600" cy="599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≈ R$ 2.417</a:t>
            </a:r>
            <a:endParaRPr b="0" sz="3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8274960" y="2949840"/>
            <a:ext cx="3099600" cy="339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2B6CA3"/>
                </a:solidFill>
                <a:latin typeface="Calibri"/>
                <a:ea typeface="Calibri"/>
                <a:cs typeface="Calibri"/>
                <a:sym typeface="Calibri"/>
              </a:rPr>
              <a:t>≈ R$ 29 mil em 12 meses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8274960" y="3399840"/>
            <a:ext cx="3099600" cy="79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Cenário: 3 clínicas, com margem para crescer, em São Paulo. Câmbio: US$ 1 = R$ 5,15.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8274960" y="4449960"/>
            <a:ext cx="3099600" cy="599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Banco e Fargate: cerca de 90% do total.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548640" y="5532120"/>
            <a:ext cx="11091240" cy="50256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 cap="flat" cmpd="sng" w="12700">
            <a:solidFill>
              <a:srgbClr val="12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868680" y="5532120"/>
            <a:ext cx="9600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Núcleo do MVP. Ainda faltam vídeo, busca, DR e segurança avançada na conta.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ArrowRight_w.png" id="354" name="Google Shape;3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2600" y="5664600"/>
            <a:ext cx="237240" cy="2372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8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fld id="{00000000-1234-1234-1234-123412341234}" type="slidenum">
              <a:rPr b="0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1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/>
          <p:nvPr/>
        </p:nvSpPr>
        <p:spPr>
          <a:xfrm>
            <a:off x="816552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935424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10542960" y="274320"/>
            <a:ext cx="1096920" cy="292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10542960" y="274320"/>
            <a:ext cx="10969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Decisão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 txBox="1"/>
          <p:nvPr>
            <p:ph type="title"/>
          </p:nvPr>
        </p:nvSpPr>
        <p:spPr>
          <a:xfrm>
            <a:off x="548640" y="685800"/>
            <a:ext cx="110912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mbria"/>
              <a:buNone/>
            </a:pPr>
            <a:r>
              <a:rPr b="1" lang="en-US" sz="3000" u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Decisão pedida: aprovar a migração do prontuário para a AWS</a:t>
            </a:r>
            <a:endParaRPr b="0" sz="30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548640" y="1783080"/>
            <a:ext cx="3513960" cy="4114440"/>
          </a:xfrm>
          <a:prstGeom prst="roundRect">
            <a:avLst>
              <a:gd fmla="val 3643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822960" y="2057400"/>
            <a:ext cx="639720" cy="639720"/>
          </a:xfrm>
          <a:prstGeom prst="ellipse">
            <a:avLst/>
          </a:prstGeom>
          <a:solidFill>
            <a:srgbClr val="C05B52"/>
          </a:solidFill>
          <a:ln cap="flat" cmpd="sng" w="12700">
            <a:solidFill>
              <a:srgbClr val="C05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ExclamationTriangle_w.png" id="368" name="Google Shape;3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280" y="2223720"/>
            <a:ext cx="306720" cy="306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9"/>
          <p:cNvSpPr/>
          <p:nvPr/>
        </p:nvSpPr>
        <p:spPr>
          <a:xfrm>
            <a:off x="1645920" y="2057400"/>
            <a:ext cx="214236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4B6AE"/>
                </a:solidFill>
                <a:latin typeface="Calibri"/>
                <a:ea typeface="Calibri"/>
                <a:cs typeface="Calibri"/>
                <a:sym typeface="Calibri"/>
              </a:rPr>
              <a:t>RISCO HOJE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822960" y="3017520"/>
            <a:ext cx="2965320" cy="21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Perda de acesso ao histórico e backup semanal em fita.</a:t>
            </a:r>
            <a:endParaRPr b="0" sz="2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822960" y="5394960"/>
            <a:ext cx="29653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P-3, P-4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4337280" y="1783080"/>
            <a:ext cx="3513960" cy="4114440"/>
          </a:xfrm>
          <a:prstGeom prst="roundRect">
            <a:avLst>
              <a:gd fmla="val 3643" name="adj"/>
            </a:avLst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4611600" y="2057400"/>
            <a:ext cx="639720" cy="639720"/>
          </a:xfrm>
          <a:prstGeom prst="ellipse">
            <a:avLst/>
          </a:prstGeom>
          <a:solidFill>
            <a:srgbClr val="2E6DA4"/>
          </a:solidFill>
          <a:ln cap="flat" cmpd="sng" w="12700">
            <a:solidFill>
              <a:srgbClr val="2E6D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Cloud_w.png" id="374" name="Google Shape;3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7920" y="2223720"/>
            <a:ext cx="306720" cy="30672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9"/>
          <p:cNvSpPr/>
          <p:nvPr/>
        </p:nvSpPr>
        <p:spPr>
          <a:xfrm>
            <a:off x="5434560" y="2057400"/>
            <a:ext cx="214236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9CC9F0"/>
                </a:solidFill>
                <a:latin typeface="Calibri"/>
                <a:ea typeface="Calibri"/>
                <a:cs typeface="Calibri"/>
                <a:sym typeface="Calibri"/>
              </a:rPr>
              <a:t>PROPOSTA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4611600" y="3017520"/>
            <a:ext cx="2965320" cy="21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Prontuário central, resiliente a falhas, com recuperação em outra região.</a:t>
            </a:r>
            <a:endParaRPr b="0" sz="2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611600" y="5394960"/>
            <a:ext cx="29653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RNF-2, RNF-7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8125920" y="1783080"/>
            <a:ext cx="3513960" cy="4114440"/>
          </a:xfrm>
          <a:prstGeom prst="roundRect">
            <a:avLst>
              <a:gd fmla="val 3643" name="adj"/>
            </a:avLst>
          </a:prstGeom>
          <a:solidFill>
            <a:srgbClr val="FFFFFF"/>
          </a:solidFill>
          <a:ln cap="flat" cmpd="sng" w="38100">
            <a:solidFill>
              <a:srgbClr val="35C6B2"/>
            </a:solidFill>
            <a:prstDash val="solid"/>
            <a:round/>
            <a:headEnd len="sm" w="sm" type="none"/>
            <a:tailEnd len="sm" w="sm" type="none"/>
          </a:ln>
          <a:effectLst>
            <a:outerShdw blurRad="177840" rotWithShape="0" algn="bl" dir="5400000" dist="507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8400240" y="2057400"/>
            <a:ext cx="639720" cy="6397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build/assets/ic_FaCheck_w.png" id="380" name="Google Shape;3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3040" y="2230200"/>
            <a:ext cx="294120" cy="29412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9"/>
          <p:cNvSpPr/>
          <p:nvPr/>
        </p:nvSpPr>
        <p:spPr>
          <a:xfrm>
            <a:off x="9223200" y="2057400"/>
            <a:ext cx="214236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DECISÃO PEDIDA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8400240" y="3017520"/>
            <a:ext cx="296532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Aprovar o escopo da primeira versão (RF-1 a RF-5) e seguir para implantação.</a:t>
            </a:r>
            <a:endParaRPr b="0" sz="2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8400240" y="5029200"/>
            <a:ext cx="2965320" cy="54828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8400240" y="5029200"/>
            <a:ext cx="29653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Aprovar escopo do MVP</a:t>
            </a:r>
            <a:endParaRPr b="0" sz="1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 txBox="1"/>
          <p:nvPr>
            <p:ph idx="12" type="sldNum"/>
          </p:nvPr>
        </p:nvSpPr>
        <p:spPr>
          <a:xfrm>
            <a:off x="11064240" y="6382440"/>
            <a:ext cx="5756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fld id="{00000000-1234-1234-1234-123412341234}" type="slidenum">
              <a:rPr b="0" lang="en-US" sz="1100" u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100" u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daMais AWS">
  <a:themeElements>
    <a:clrScheme name="VidaMais AWS">
      <a:dk1>
        <a:srgbClr val="1B2733"/>
      </a:dk1>
      <a:lt1>
        <a:srgbClr val="FFFFFF"/>
      </a:lt1>
      <a:dk2>
        <a:srgbClr val="12304A"/>
      </a:dk2>
      <a:lt2>
        <a:srgbClr val="F1F4F7"/>
      </a:lt2>
      <a:accent1>
        <a:srgbClr val="2E6DA4"/>
      </a:accent1>
      <a:accent2>
        <a:srgbClr val="2E7D52"/>
      </a:accent2>
      <a:accent3>
        <a:srgbClr val="B87437"/>
      </a:accent3>
      <a:accent4>
        <a:srgbClr val="C05B52"/>
      </a:accent4>
      <a:accent5>
        <a:srgbClr val="734687"/>
      </a:accent5>
      <a:accent6>
        <a:srgbClr val="5C636B"/>
      </a:accent6>
      <a:hlink>
        <a:srgbClr val="2E6DA4"/>
      </a:hlink>
      <a:folHlink>
        <a:srgbClr val="73468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